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RH1A0587 III - CSE" userId="edac8daba633def1" providerId="LiveId" clId="{51A8248A-9D5E-42FB-9982-EEC967274709}"/>
    <pc:docChg chg="custSel modSld">
      <pc:chgData name="23RH1A0587 III - CSE" userId="edac8daba633def1" providerId="LiveId" clId="{51A8248A-9D5E-42FB-9982-EEC967274709}" dt="2026-04-13T09:10:54.713" v="15" actId="20577"/>
      <pc:docMkLst>
        <pc:docMk/>
      </pc:docMkLst>
      <pc:sldChg chg="modSp mod">
        <pc:chgData name="23RH1A0587 III - CSE" userId="edac8daba633def1" providerId="LiveId" clId="{51A8248A-9D5E-42FB-9982-EEC967274709}" dt="2026-04-13T09:09:40.752" v="0" actId="12"/>
        <pc:sldMkLst>
          <pc:docMk/>
          <pc:sldMk cId="0" sldId="257"/>
        </pc:sldMkLst>
        <pc:spChg chg="mod">
          <ac:chgData name="23RH1A0587 III - CSE" userId="edac8daba633def1" providerId="LiveId" clId="{51A8248A-9D5E-42FB-9982-EEC967274709}" dt="2026-04-13T09:09:40.752" v="0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09:47.828" v="1" actId="12"/>
        <pc:sldMkLst>
          <pc:docMk/>
          <pc:sldMk cId="0" sldId="258"/>
        </pc:sldMkLst>
        <pc:spChg chg="mod">
          <ac:chgData name="23RH1A0587 III - CSE" userId="edac8daba633def1" providerId="LiveId" clId="{51A8248A-9D5E-42FB-9982-EEC967274709}" dt="2026-04-13T09:09:47.828" v="1" actId="12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09:53.342" v="2" actId="12"/>
        <pc:sldMkLst>
          <pc:docMk/>
          <pc:sldMk cId="0" sldId="259"/>
        </pc:sldMkLst>
        <pc:spChg chg="mod">
          <ac:chgData name="23RH1A0587 III - CSE" userId="edac8daba633def1" providerId="LiveId" clId="{51A8248A-9D5E-42FB-9982-EEC967274709}" dt="2026-04-13T09:09:53.342" v="2" actId="12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09:58.457" v="3" actId="12"/>
        <pc:sldMkLst>
          <pc:docMk/>
          <pc:sldMk cId="0" sldId="260"/>
        </pc:sldMkLst>
        <pc:spChg chg="mod">
          <ac:chgData name="23RH1A0587 III - CSE" userId="edac8daba633def1" providerId="LiveId" clId="{51A8248A-9D5E-42FB-9982-EEC967274709}" dt="2026-04-13T09:09:58.457" v="3" actId="12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09.833" v="4" actId="12"/>
        <pc:sldMkLst>
          <pc:docMk/>
          <pc:sldMk cId="0" sldId="261"/>
        </pc:sldMkLst>
        <pc:spChg chg="mod">
          <ac:chgData name="23RH1A0587 III - CSE" userId="edac8daba633def1" providerId="LiveId" clId="{51A8248A-9D5E-42FB-9982-EEC967274709}" dt="2026-04-13T09:10:09.833" v="4" actId="12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21.990" v="5" actId="12"/>
        <pc:sldMkLst>
          <pc:docMk/>
          <pc:sldMk cId="0" sldId="262"/>
        </pc:sldMkLst>
        <pc:spChg chg="mod">
          <ac:chgData name="23RH1A0587 III - CSE" userId="edac8daba633def1" providerId="LiveId" clId="{51A8248A-9D5E-42FB-9982-EEC967274709}" dt="2026-04-13T09:10:21.990" v="5" actId="12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26.824" v="7" actId="20577"/>
        <pc:sldMkLst>
          <pc:docMk/>
          <pc:sldMk cId="0" sldId="263"/>
        </pc:sldMkLst>
        <pc:spChg chg="mod">
          <ac:chgData name="23RH1A0587 III - CSE" userId="edac8daba633def1" providerId="LiveId" clId="{51A8248A-9D5E-42FB-9982-EEC967274709}" dt="2026-04-13T09:10:26.824" v="7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34.963" v="8" actId="12"/>
        <pc:sldMkLst>
          <pc:docMk/>
          <pc:sldMk cId="0" sldId="264"/>
        </pc:sldMkLst>
        <pc:spChg chg="mod">
          <ac:chgData name="23RH1A0587 III - CSE" userId="edac8daba633def1" providerId="LiveId" clId="{51A8248A-9D5E-42FB-9982-EEC967274709}" dt="2026-04-13T09:10:34.963" v="8" actId="12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23RH1A0587 III - CSE" userId="edac8daba633def1" providerId="LiveId" clId="{51A8248A-9D5E-42FB-9982-EEC967274709}" dt="2026-04-13T09:10:54.713" v="15" actId="20577"/>
        <pc:sldMkLst>
          <pc:docMk/>
          <pc:sldMk cId="0" sldId="265"/>
        </pc:sldMkLst>
        <pc:spChg chg="mod">
          <ac:chgData name="23RH1A0587 III - CSE" userId="edac8daba633def1" providerId="LiveId" clId="{51A8248A-9D5E-42FB-9982-EEC967274709}" dt="2026-04-13T09:10:51.430" v="14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23RH1A0587 III - CSE" userId="edac8daba633def1" providerId="LiveId" clId="{51A8248A-9D5E-42FB-9982-EEC967274709}" dt="2026-04-13T09:10:54.713" v="15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Sales Dashboard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Business Insights and Statistical Validation</a:t>
            </a:r>
          </a:p>
          <a:p>
            <a:endParaRPr dirty="0"/>
          </a:p>
          <a:p>
            <a:r>
              <a:rPr dirty="0"/>
              <a:t>Author: </a:t>
            </a:r>
            <a:r>
              <a:rPr lang="en-IN" b="1" dirty="0" smtClean="0"/>
              <a:t>SYAMBABU AKUMARTHI</a:t>
            </a:r>
            <a:endParaRPr b="1" dirty="0"/>
          </a:p>
          <a:p>
            <a:r>
              <a:rPr dirty="0"/>
              <a:t>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 sales and profit performance</a:t>
            </a:r>
          </a:p>
          <a:p>
            <a:pPr marL="0" indent="0">
              <a:buNone/>
            </a:pPr>
            <a:r>
              <a:rPr dirty="0"/>
              <a:t>• Identify high-performing regions and categories</a:t>
            </a:r>
          </a:p>
          <a:p>
            <a:pPr marL="0" indent="0">
              <a:buNone/>
            </a:pPr>
            <a:r>
              <a:rPr dirty="0"/>
              <a:t>• Detect areas with low profitability</a:t>
            </a:r>
          </a:p>
          <a:p>
            <a:pPr marL="0" indent="0">
              <a:buNone/>
            </a:pPr>
            <a:r>
              <a:rPr dirty="0"/>
              <a:t>• Provide data‑driven recommendations for business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Dataset: Retail Sales Dataset</a:t>
            </a:r>
          </a:p>
          <a:p>
            <a:pPr marL="0" indent="0">
              <a:buNone/>
            </a:pPr>
            <a:r>
              <a:rPr dirty="0"/>
              <a:t>• Key fields: </a:t>
            </a:r>
            <a:r>
              <a:rPr dirty="0" err="1"/>
              <a:t>OrderID</a:t>
            </a:r>
            <a:r>
              <a:rPr dirty="0"/>
              <a:t>, Region, Category, Sales, Profit, Quantity</a:t>
            </a:r>
          </a:p>
          <a:p>
            <a:pPr marL="0" indent="0">
              <a:buNone/>
            </a:pPr>
            <a:r>
              <a:rPr dirty="0"/>
              <a:t>• Used for analyzing business performance and trends</a:t>
            </a:r>
          </a:p>
          <a:p>
            <a:pPr marL="0" indent="0">
              <a:buNone/>
            </a:pPr>
            <a:r>
              <a:rPr dirty="0"/>
              <a:t>• Data processed using Python and visualized using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Sales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Evaluated overall sales distribution</a:t>
            </a:r>
          </a:p>
          <a:p>
            <a:pPr marL="0" indent="0">
              <a:buNone/>
            </a:pPr>
            <a:r>
              <a:rPr dirty="0"/>
              <a:t>• Identified revenue trends across regions</a:t>
            </a:r>
          </a:p>
          <a:p>
            <a:pPr marL="0" indent="0">
              <a:buNone/>
            </a:pPr>
            <a:r>
              <a:rPr dirty="0"/>
              <a:t>• Compared product category sales</a:t>
            </a:r>
          </a:p>
          <a:p>
            <a:pPr marL="0" indent="0">
              <a:buNone/>
            </a:pPr>
            <a:r>
              <a:rPr dirty="0"/>
              <a:t>• Observed growth patterns and potential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Regional </a:t>
            </a:r>
            <a:r>
              <a:rPr b="1" dirty="0" smtClean="0"/>
              <a:t>Analysis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West region generates the highest sales</a:t>
            </a:r>
          </a:p>
          <a:p>
            <a:pPr marL="0" indent="0">
              <a:buNone/>
            </a:pPr>
            <a:r>
              <a:rPr dirty="0"/>
              <a:t>• East region shows stable sales performance</a:t>
            </a:r>
          </a:p>
          <a:p>
            <a:pPr marL="0" indent="0">
              <a:buNone/>
            </a:pPr>
            <a:r>
              <a:rPr dirty="0"/>
              <a:t>• Central and South regions require improvement</a:t>
            </a:r>
          </a:p>
          <a:p>
            <a:pPr marL="0" indent="0">
              <a:buNone/>
            </a:pPr>
            <a:r>
              <a:rPr dirty="0"/>
              <a:t>• Regional comparison helps guide expansion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Category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Technology products produce the highest profit margins</a:t>
            </a:r>
          </a:p>
          <a:p>
            <a:pPr marL="0" indent="0">
              <a:buNone/>
            </a:pPr>
            <a:r>
              <a:rPr dirty="0"/>
              <a:t>• Furniture shows lower profitability despite strong sales</a:t>
            </a:r>
          </a:p>
          <a:p>
            <a:pPr marL="0" indent="0">
              <a:buNone/>
            </a:pPr>
            <a:r>
              <a:rPr dirty="0"/>
              <a:t>• Office Supplies maintain moderate profit</a:t>
            </a:r>
          </a:p>
          <a:p>
            <a:pPr marL="0" indent="0">
              <a:buNone/>
            </a:pPr>
            <a:r>
              <a:rPr dirty="0"/>
              <a:t>• Product mix optimization can improve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sales do not always mean high profit</a:t>
            </a:r>
          </a:p>
          <a:p>
            <a:pPr marL="0" indent="0">
              <a:buNone/>
            </a:pPr>
            <a:r>
              <a:rPr dirty="0"/>
              <a:t>• Technology category is the most profitable</a:t>
            </a:r>
          </a:p>
          <a:p>
            <a:pPr marL="0" indent="0">
              <a:buNone/>
            </a:pPr>
            <a:r>
              <a:rPr dirty="0"/>
              <a:t>• Some furniture products generate losses</a:t>
            </a:r>
          </a:p>
          <a:p>
            <a:pPr marL="0" indent="0">
              <a:buNone/>
            </a:pPr>
            <a:r>
              <a:rPr dirty="0"/>
              <a:t>• Targeted strategy can improve profitability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Hypothesis: Technology category generates higher average profit than Furniture.</a:t>
            </a:r>
          </a:p>
          <a:p>
            <a:r>
              <a:rPr dirty="0"/>
              <a:t>Test Used: Two-sample T-Test</a:t>
            </a:r>
          </a:p>
          <a:p>
            <a:r>
              <a:rPr dirty="0"/>
              <a:t>Null Hypothesis: No difference between category profits</a:t>
            </a:r>
          </a:p>
          <a:p>
            <a:r>
              <a:rPr dirty="0"/>
              <a:t>Alternative Hypothesis: Technology profit is higher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Statistical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Calculated p-value using T-test</a:t>
            </a:r>
          </a:p>
          <a:p>
            <a:pPr marL="0" indent="0">
              <a:buNone/>
            </a:pPr>
            <a:r>
              <a:rPr dirty="0"/>
              <a:t>• If p-value &lt; 0.05 → statistically significant</a:t>
            </a:r>
          </a:p>
          <a:p>
            <a:pPr marL="0" indent="0">
              <a:buNone/>
            </a:pPr>
            <a:r>
              <a:rPr dirty="0"/>
              <a:t>• Reject the null hypothesis</a:t>
            </a:r>
          </a:p>
          <a:p>
            <a:pPr marL="0" indent="0">
              <a:buNone/>
            </a:pPr>
            <a:r>
              <a:rPr dirty="0"/>
              <a:t>• Technology category shows stronger profitability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Business 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• Invest more in high-profit product categories</a:t>
            </a:r>
          </a:p>
          <a:p>
            <a:pPr marL="0" indent="0">
              <a:buNone/>
            </a:pPr>
            <a:r>
              <a:rPr dirty="0"/>
              <a:t>• Optimize pricing for low-profit categories</a:t>
            </a:r>
          </a:p>
          <a:p>
            <a:pPr marL="0" indent="0">
              <a:buNone/>
            </a:pPr>
            <a:r>
              <a:rPr dirty="0"/>
              <a:t>• Expand strong regional markets</a:t>
            </a:r>
          </a:p>
          <a:p>
            <a:pPr marL="0" indent="0">
              <a:buNone/>
            </a:pPr>
            <a:r>
              <a:rPr dirty="0"/>
              <a:t>• Use data analytics to guide strategic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290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Sales Dashboard Analysis</vt:lpstr>
      <vt:lpstr>Business Objective</vt:lpstr>
      <vt:lpstr>Dataset Overview</vt:lpstr>
      <vt:lpstr>Sales Performance Analysis</vt:lpstr>
      <vt:lpstr>Regional Analysis</vt:lpstr>
      <vt:lpstr>Category Analysis</vt:lpstr>
      <vt:lpstr>Key Business Insights</vt:lpstr>
      <vt:lpstr>Hypothesis Testing</vt:lpstr>
      <vt:lpstr>Statistical Results</vt:lpstr>
      <vt:lpstr>Business Recommendations &amp; 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Analysis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2026-05-28T09:37:55Z</dcterms:modified>
  <cp:category/>
</cp:coreProperties>
</file>